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6.webp" ContentType="image/webp"/>
  <Override PartName="/ppt/media/image7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3"/>
    <p:sldId id="264" r:id="rId4"/>
    <p:sldId id="259" r:id="rId5"/>
    <p:sldId id="266" r:id="rId6"/>
    <p:sldId id="283" r:id="rId7"/>
    <p:sldId id="284" r:id="rId8"/>
    <p:sldId id="285" r:id="rId9"/>
    <p:sldId id="276" r:id="rId10"/>
    <p:sldId id="279" r:id="rId11"/>
    <p:sldId id="280" r:id="rId12"/>
    <p:sldId id="281" r:id="rId13"/>
    <p:sldId id="282" r:id="rId14"/>
    <p:sldId id="274" r:id="rId15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Microsoft YaHei Light" panose="020B0502040204020203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2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7C5A"/>
    <a:srgbClr val="F6F6F6"/>
    <a:srgbClr val="E08648"/>
    <a:srgbClr val="E36C64"/>
    <a:srgbClr val="675E8C"/>
    <a:srgbClr val="27282C"/>
    <a:srgbClr val="166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000"/>
    <p:restoredTop sz="94660"/>
  </p:normalViewPr>
  <p:slideViewPr>
    <p:cSldViewPr snapToGrid="0" showGuides="1">
      <p:cViewPr>
        <p:scale>
          <a:sx n="69" d="100"/>
          <a:sy n="69" d="100"/>
        </p:scale>
        <p:origin x="780" y="216"/>
      </p:cViewPr>
      <p:guideLst>
        <p:guide pos="3840"/>
        <p:guide orient="horz" pos="2202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>
      <p:scale>
        <a:sx n="66" d="100"/>
        <a:sy n="66" d="100"/>
      </p:scale>
      <p:origin x="0" y="-8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anose="020F0502020204030204" pitchFamily="34" charset="0"/>
                <a:ea typeface="Microsoft YaHei Light" panose="020B0502040204020203" pitchFamily="34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anose="020F0502020204030204" pitchFamily="34" charset="0"/>
                <a:ea typeface="Microsoft YaHei Light" panose="020B0502040204020203" pitchFamily="34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pPr fontAlgn="base"/>
            <a:fld id="{D2A48B96-639E-45A3-A0BA-2464DFDB1FAA}" type="datetimeFigureOut">
              <a:rPr lang="zh-CN" altLang="en-US" strike="noStrike" noProof="1" smtClean="0">
                <a:latin typeface="Calibri" panose="020F0502020204030204" pitchFamily="34" charset="0"/>
                <a:ea typeface="Arial" panose="020B0604020202020204" pitchFamily="34" charset="0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6148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备注占位符 4"/>
          <p:cNvSpPr>
            <a:spLocks noGrp="1"/>
          </p:cNvSpPr>
          <p:nvPr>
            <p:ph type="body" sz="quarter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 w="9525">
            <a:noFill/>
          </a:ln>
        </p:spPr>
        <p:txBody>
          <a:bodyPr lIns="91440" tIns="45720" rIns="91440" bIns="45720" anchor="t" anchorCtr="0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pPr fontAlgn="base"/>
            <a:fld id="{A6837353-30EB-4A48-80EB-173D804AEFBD}" type="slidenum">
              <a:rPr lang="zh-CN" altLang="en-US" strike="noStrike" noProof="1" smtClean="0">
                <a:latin typeface="Calibri" panose="020F0502020204030204" pitchFamily="34" charset="0"/>
                <a:ea typeface="Arial" panose="020B0604020202020204" pitchFamily="34" charset="0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2728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6"/>
          <p:cNvSpPr/>
          <p:nvPr/>
        </p:nvSpPr>
        <p:spPr>
          <a:xfrm>
            <a:off x="0" y="-17462"/>
            <a:ext cx="5095875" cy="4667250"/>
          </a:xfrm>
          <a:custGeom>
            <a:avLst/>
            <a:gdLst>
              <a:gd name="connsiteX0" fmla="*/ 0 w 5095525"/>
              <a:gd name="connsiteY0" fmla="*/ 0 h 4666400"/>
              <a:gd name="connsiteX1" fmla="*/ 5095525 w 5095525"/>
              <a:gd name="connsiteY1" fmla="*/ 0 h 4666400"/>
              <a:gd name="connsiteX2" fmla="*/ 2389013 w 5095525"/>
              <a:gd name="connsiteY2" fmla="*/ 4666400 h 4666400"/>
              <a:gd name="connsiteX3" fmla="*/ 0 w 5095525"/>
              <a:gd name="connsiteY3" fmla="*/ 547414 h 4666400"/>
              <a:gd name="connsiteX4" fmla="*/ 0 w 5095525"/>
              <a:gd name="connsiteY4" fmla="*/ 0 h 466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95525" h="4666400">
                <a:moveTo>
                  <a:pt x="0" y="0"/>
                </a:moveTo>
                <a:lnTo>
                  <a:pt x="5095525" y="0"/>
                </a:lnTo>
                <a:lnTo>
                  <a:pt x="2389013" y="4666400"/>
                </a:lnTo>
                <a:lnTo>
                  <a:pt x="0" y="547414"/>
                </a:lnTo>
                <a:lnTo>
                  <a:pt x="0" y="0"/>
                </a:lnTo>
                <a:close/>
              </a:path>
            </a:pathLst>
          </a:custGeom>
          <a:solidFill>
            <a:srgbClr val="1C7C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等腰三角形 7"/>
          <p:cNvSpPr/>
          <p:nvPr/>
        </p:nvSpPr>
        <p:spPr>
          <a:xfrm>
            <a:off x="315913" y="4041775"/>
            <a:ext cx="3265488" cy="2816225"/>
          </a:xfrm>
          <a:prstGeom prst="triangle">
            <a:avLst/>
          </a:prstGeom>
          <a:solidFill>
            <a:srgbClr val="E086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任意多边形 8"/>
          <p:cNvSpPr/>
          <p:nvPr/>
        </p:nvSpPr>
        <p:spPr>
          <a:xfrm>
            <a:off x="0" y="4649788"/>
            <a:ext cx="800100" cy="2208213"/>
          </a:xfrm>
          <a:custGeom>
            <a:avLst/>
            <a:gdLst>
              <a:gd name="connsiteX0" fmla="*/ 317500 w 800100"/>
              <a:gd name="connsiteY0" fmla="*/ 0 h 1676400"/>
              <a:gd name="connsiteX1" fmla="*/ 0 w 800100"/>
              <a:gd name="connsiteY1" fmla="*/ 419100 h 1676400"/>
              <a:gd name="connsiteX2" fmla="*/ 0 w 800100"/>
              <a:gd name="connsiteY2" fmla="*/ 1676400 h 1676400"/>
              <a:gd name="connsiteX3" fmla="*/ 800100 w 800100"/>
              <a:gd name="connsiteY3" fmla="*/ 1676400 h 1676400"/>
              <a:gd name="connsiteX4" fmla="*/ 317500 w 800100"/>
              <a:gd name="connsiteY4" fmla="*/ 0 h 167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0" h="1676400">
                <a:moveTo>
                  <a:pt x="317500" y="0"/>
                </a:moveTo>
                <a:lnTo>
                  <a:pt x="0" y="419100"/>
                </a:lnTo>
                <a:lnTo>
                  <a:pt x="0" y="1676400"/>
                </a:lnTo>
                <a:lnTo>
                  <a:pt x="800100" y="1676400"/>
                </a:lnTo>
                <a:lnTo>
                  <a:pt x="317500" y="0"/>
                </a:lnTo>
                <a:close/>
              </a:path>
            </a:pathLst>
          </a:custGeom>
          <a:solidFill>
            <a:srgbClr val="E36C64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等腰三角形 9"/>
          <p:cNvSpPr/>
          <p:nvPr/>
        </p:nvSpPr>
        <p:spPr>
          <a:xfrm>
            <a:off x="0" y="4838700"/>
            <a:ext cx="1724025" cy="1487488"/>
          </a:xfrm>
          <a:prstGeom prst="triangle">
            <a:avLst/>
          </a:prstGeom>
          <a:solidFill>
            <a:srgbClr val="675E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等腰三角形 10"/>
          <p:cNvSpPr/>
          <p:nvPr/>
        </p:nvSpPr>
        <p:spPr>
          <a:xfrm flipV="1">
            <a:off x="996950" y="1765300"/>
            <a:ext cx="1517650" cy="1308100"/>
          </a:xfrm>
          <a:prstGeom prst="triangle">
            <a:avLst/>
          </a:prstGeom>
          <a:solidFill>
            <a:srgbClr val="16654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任意多边形 11"/>
          <p:cNvSpPr/>
          <p:nvPr/>
        </p:nvSpPr>
        <p:spPr>
          <a:xfrm>
            <a:off x="0" y="439738"/>
            <a:ext cx="2754313" cy="3300413"/>
          </a:xfrm>
          <a:custGeom>
            <a:avLst/>
            <a:gdLst>
              <a:gd name="connsiteX0" fmla="*/ 0 w 2754101"/>
              <a:gd name="connsiteY0" fmla="*/ 0 h 3300541"/>
              <a:gd name="connsiteX1" fmla="*/ 2754101 w 2754101"/>
              <a:gd name="connsiteY1" fmla="*/ 0 h 3300541"/>
              <a:gd name="connsiteX2" fmla="*/ 839788 w 2754101"/>
              <a:gd name="connsiteY2" fmla="*/ 3300541 h 3300541"/>
              <a:gd name="connsiteX3" fmla="*/ 0 w 2754101"/>
              <a:gd name="connsiteY3" fmla="*/ 1852631 h 3300541"/>
              <a:gd name="connsiteX4" fmla="*/ 0 w 2754101"/>
              <a:gd name="connsiteY4" fmla="*/ 0 h 3300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4101" h="3300541">
                <a:moveTo>
                  <a:pt x="0" y="0"/>
                </a:moveTo>
                <a:lnTo>
                  <a:pt x="2754101" y="0"/>
                </a:lnTo>
                <a:lnTo>
                  <a:pt x="839788" y="3300541"/>
                </a:lnTo>
                <a:lnTo>
                  <a:pt x="0" y="1852631"/>
                </a:lnTo>
                <a:lnTo>
                  <a:pt x="0" y="0"/>
                </a:lnTo>
                <a:close/>
              </a:path>
            </a:pathLst>
          </a:custGeom>
          <a:solidFill>
            <a:srgbClr val="16654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438314" y="2261762"/>
            <a:ext cx="7913899" cy="2387600"/>
          </a:xfrm>
        </p:spPr>
        <p:txBody>
          <a:bodyPr anchor="b"/>
          <a:lstStyle>
            <a:lvl1pPr algn="l">
              <a:defRPr sz="6000" b="1" spc="300" baseline="0">
                <a:solidFill>
                  <a:schemeClr val="bg1"/>
                </a:solidFill>
              </a:defRPr>
            </a:lvl1pPr>
          </a:lstStyle>
          <a:p>
            <a:pPr fontAlgn="auto"/>
            <a:r>
              <a:rPr lang="zh-CN" altLang="en-US" strike="noStrike" noProof="1" dirty="0" smtClean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438314" y="4741437"/>
            <a:ext cx="7913899" cy="1655762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1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title">
    <p:bg>
      <p:bgPr>
        <a:solidFill>
          <a:srgbClr val="2728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6"/>
          <p:cNvSpPr/>
          <p:nvPr/>
        </p:nvSpPr>
        <p:spPr>
          <a:xfrm>
            <a:off x="0" y="3636963"/>
            <a:ext cx="1166813" cy="3221038"/>
          </a:xfrm>
          <a:custGeom>
            <a:avLst/>
            <a:gdLst>
              <a:gd name="connsiteX0" fmla="*/ 317500 w 800100"/>
              <a:gd name="connsiteY0" fmla="*/ 0 h 1676400"/>
              <a:gd name="connsiteX1" fmla="*/ 0 w 800100"/>
              <a:gd name="connsiteY1" fmla="*/ 419100 h 1676400"/>
              <a:gd name="connsiteX2" fmla="*/ 0 w 800100"/>
              <a:gd name="connsiteY2" fmla="*/ 1676400 h 1676400"/>
              <a:gd name="connsiteX3" fmla="*/ 800100 w 800100"/>
              <a:gd name="connsiteY3" fmla="*/ 1676400 h 1676400"/>
              <a:gd name="connsiteX4" fmla="*/ 317500 w 800100"/>
              <a:gd name="connsiteY4" fmla="*/ 0 h 167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0" h="1676400">
                <a:moveTo>
                  <a:pt x="317500" y="0"/>
                </a:moveTo>
                <a:lnTo>
                  <a:pt x="0" y="419100"/>
                </a:lnTo>
                <a:lnTo>
                  <a:pt x="0" y="1676400"/>
                </a:lnTo>
                <a:lnTo>
                  <a:pt x="800100" y="1676400"/>
                </a:lnTo>
                <a:lnTo>
                  <a:pt x="317500" y="0"/>
                </a:lnTo>
                <a:close/>
              </a:path>
            </a:pathLst>
          </a:custGeom>
          <a:solidFill>
            <a:srgbClr val="E36C64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任意多边形 7"/>
          <p:cNvSpPr/>
          <p:nvPr/>
        </p:nvSpPr>
        <p:spPr>
          <a:xfrm>
            <a:off x="0" y="3527425"/>
            <a:ext cx="1931988" cy="3330575"/>
          </a:xfrm>
          <a:custGeom>
            <a:avLst/>
            <a:gdLst>
              <a:gd name="connsiteX0" fmla="*/ 0 w 1932106"/>
              <a:gd name="connsiteY0" fmla="*/ 0 h 3331217"/>
              <a:gd name="connsiteX1" fmla="*/ 1932106 w 1932106"/>
              <a:gd name="connsiteY1" fmla="*/ 3331217 h 3331217"/>
              <a:gd name="connsiteX2" fmla="*/ 0 w 1932106"/>
              <a:gd name="connsiteY2" fmla="*/ 3331217 h 3331217"/>
              <a:gd name="connsiteX3" fmla="*/ 0 w 1932106"/>
              <a:gd name="connsiteY3" fmla="*/ 0 h 3331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2106" h="3331217">
                <a:moveTo>
                  <a:pt x="0" y="0"/>
                </a:moveTo>
                <a:lnTo>
                  <a:pt x="1932106" y="3331217"/>
                </a:lnTo>
                <a:lnTo>
                  <a:pt x="0" y="3331217"/>
                </a:lnTo>
                <a:lnTo>
                  <a:pt x="0" y="0"/>
                </a:lnTo>
                <a:close/>
              </a:path>
            </a:pathLst>
          </a:custGeom>
          <a:solidFill>
            <a:srgbClr val="E086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66800" y="1709738"/>
            <a:ext cx="10280650" cy="2852737"/>
          </a:xfrm>
        </p:spPr>
        <p:txBody>
          <a:bodyPr anchor="b"/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pPr fontAlgn="auto"/>
            <a:r>
              <a:rPr lang="zh-CN" altLang="en-US" strike="noStrike" noProof="1" dirty="0" smtClean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066800" y="4589463"/>
            <a:ext cx="102806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auto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9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2728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8" name="组合 6"/>
          <p:cNvGrpSpPr/>
          <p:nvPr userDrawn="1"/>
        </p:nvGrpSpPr>
        <p:grpSpPr>
          <a:xfrm>
            <a:off x="0" y="-17462"/>
            <a:ext cx="1162050" cy="1065212"/>
            <a:chOff x="0" y="-17037"/>
            <a:chExt cx="5095525" cy="4666400"/>
          </a:xfrm>
        </p:grpSpPr>
        <p:sp>
          <p:nvSpPr>
            <p:cNvPr id="8" name="任意多边形 7"/>
            <p:cNvSpPr/>
            <p:nvPr/>
          </p:nvSpPr>
          <p:spPr>
            <a:xfrm>
              <a:off x="0" y="-17037"/>
              <a:ext cx="5095525" cy="4666400"/>
            </a:xfrm>
            <a:custGeom>
              <a:avLst/>
              <a:gdLst>
                <a:gd name="connsiteX0" fmla="*/ 0 w 5095525"/>
                <a:gd name="connsiteY0" fmla="*/ 0 h 4666400"/>
                <a:gd name="connsiteX1" fmla="*/ 5095525 w 5095525"/>
                <a:gd name="connsiteY1" fmla="*/ 0 h 4666400"/>
                <a:gd name="connsiteX2" fmla="*/ 2389013 w 5095525"/>
                <a:gd name="connsiteY2" fmla="*/ 4666400 h 4666400"/>
                <a:gd name="connsiteX3" fmla="*/ 0 w 5095525"/>
                <a:gd name="connsiteY3" fmla="*/ 547414 h 4666400"/>
                <a:gd name="connsiteX4" fmla="*/ 0 w 5095525"/>
                <a:gd name="connsiteY4" fmla="*/ 0 h 4666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95525" h="4666400">
                  <a:moveTo>
                    <a:pt x="0" y="0"/>
                  </a:moveTo>
                  <a:lnTo>
                    <a:pt x="5095525" y="0"/>
                  </a:lnTo>
                  <a:lnTo>
                    <a:pt x="2389013" y="4666400"/>
                  </a:lnTo>
                  <a:lnTo>
                    <a:pt x="0" y="547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C7C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等腰三角形 8"/>
            <p:cNvSpPr/>
            <p:nvPr/>
          </p:nvSpPr>
          <p:spPr>
            <a:xfrm flipV="1">
              <a:off x="996552" y="1764627"/>
              <a:ext cx="1518490" cy="1309043"/>
            </a:xfrm>
            <a:prstGeom prst="triangle">
              <a:avLst/>
            </a:prstGeom>
            <a:solidFill>
              <a:srgbClr val="16654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0" y="439770"/>
              <a:ext cx="2754101" cy="3300541"/>
            </a:xfrm>
            <a:custGeom>
              <a:avLst/>
              <a:gdLst>
                <a:gd name="connsiteX0" fmla="*/ 0 w 2754101"/>
                <a:gd name="connsiteY0" fmla="*/ 0 h 3300541"/>
                <a:gd name="connsiteX1" fmla="*/ 2754101 w 2754101"/>
                <a:gd name="connsiteY1" fmla="*/ 0 h 3300541"/>
                <a:gd name="connsiteX2" fmla="*/ 839788 w 2754101"/>
                <a:gd name="connsiteY2" fmla="*/ 3300541 h 3300541"/>
                <a:gd name="connsiteX3" fmla="*/ 0 w 2754101"/>
                <a:gd name="connsiteY3" fmla="*/ 1852631 h 3300541"/>
                <a:gd name="connsiteX4" fmla="*/ 0 w 2754101"/>
                <a:gd name="connsiteY4" fmla="*/ 0 h 3300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54101" h="3300541">
                  <a:moveTo>
                    <a:pt x="0" y="0"/>
                  </a:moveTo>
                  <a:lnTo>
                    <a:pt x="2754101" y="0"/>
                  </a:lnTo>
                  <a:lnTo>
                    <a:pt x="839788" y="3300541"/>
                  </a:lnTo>
                  <a:lnTo>
                    <a:pt x="0" y="18526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6654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fontAlgn="auto"/>
            <a:r>
              <a:rPr lang="zh-CN" altLang="en-US" strike="noStrike" noProof="1" dirty="0" smtClean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11" name="日期占位符 2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Arial" panose="020B0604020202020204" pitchFamily="34" charset="0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Arial" panose="020B0604020202020204" pitchFamily="34" charset="0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Arial" panose="020B0604020202020204" pitchFamily="34" charset="0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Arial" panose="020B0604020202020204" pitchFamily="34" charset="0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2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A8D2A4B-6B55-4738-B7E3-8F0F6C09A17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Arial" panose="020B0604020202020204" pitchFamily="34" charset="0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Arial" panose="020B060402020202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7.webp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6.web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438525" y="1445895"/>
            <a:ext cx="8558530" cy="329819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8000" b="1" i="0" u="none" strike="noStrike" kern="1200" cap="none" spc="30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Steganografija i LSB skrivanje poruka u slikama</a:t>
            </a:r>
            <a:endParaRPr kumimoji="0" lang="en-US" altLang="en-US" sz="8000" b="1" i="0" u="none" strike="noStrike" kern="1200" cap="none" spc="300" normalizeH="0" baseline="0" noProof="0" dirty="0" smtClean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170" name="副标题 2"/>
          <p:cNvSpPr>
            <a:spLocks noGrp="1"/>
          </p:cNvSpPr>
          <p:nvPr>
            <p:ph type="subTitle" idx="1"/>
          </p:nvPr>
        </p:nvSpPr>
        <p:spPr>
          <a:xfrm>
            <a:off x="10079990" y="4878070"/>
            <a:ext cx="1425575" cy="618490"/>
          </a:xfrm>
        </p:spPr>
        <p:txBody>
          <a:bodyPr wrap="square" lIns="91440" tIns="45720" rIns="91440" bIns="45720" anchor="t" anchorCtr="0"/>
          <a:p>
            <a:pPr defTabSz="914400">
              <a:buClrTx/>
              <a:buSzTx/>
            </a:pPr>
            <a:r>
              <a:rPr lang="sr-Latn-RS" altLang="zh-CN" kern="1200" dirty="0">
                <a:latin typeface="+mn-lt"/>
                <a:ea typeface="Arial" panose="020B0604020202020204" pitchFamily="34" charset="0"/>
                <a:cs typeface="+mn-cs"/>
              </a:rPr>
              <a:t>Tim 17</a:t>
            </a:r>
            <a:endParaRPr lang="sr-Latn-RS" altLang="zh-CN" kern="1200" dirty="0">
              <a:latin typeface="+mn-lt"/>
              <a:ea typeface="Arial" panose="020B0604020202020204" pitchFamily="34" charset="0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en-US" dirty="0">
                <a:sym typeface="+mn-ea"/>
              </a:rPr>
              <a:t>Šta je steganografija?</a:t>
            </a:r>
            <a:endParaRPr kumimoji="0" lang="zh-CN" altLang="en-US" sz="4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197850" y="1808480"/>
            <a:ext cx="3894455" cy="4655185"/>
          </a:xfrm>
          <a:prstGeom prst="rect">
            <a:avLst/>
          </a:prstGeom>
          <a:solidFill>
            <a:srgbClr val="1C7C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3" name="矩形 9"/>
          <p:cNvSpPr/>
          <p:nvPr/>
        </p:nvSpPr>
        <p:spPr>
          <a:xfrm>
            <a:off x="8197850" y="1911985"/>
            <a:ext cx="3894455" cy="455168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noAutofit/>
          </a:bodyPr>
          <a:p>
            <a:pPr marL="342900" indent="-342900" algn="just">
              <a:buFont typeface="Wingdings" panose="05000000000000000000" charset="0"/>
              <a:buChar char="v"/>
            </a:pP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Steganografija je tehnika skrivanja poruke unutar drugog digitalnog sadr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ž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aja.</a:t>
            </a: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Cilj nije samo za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š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tita sadr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ž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aja poruke, ve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ć 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i skrivanje njenog postojanja.</a:t>
            </a: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Poruka mo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ž</a:t>
            </a: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e biti sakrivena u slici, zvuku, videu ili drugom fajlu.</a:t>
            </a: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r>
              <a:rPr lang="en-US" altLang="en-US" sz="20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Rezultat je stego fajl, koji izgleda isto ili skoro isto kao original.</a:t>
            </a: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</p:txBody>
      </p:sp>
      <p:pic>
        <p:nvPicPr>
          <p:cNvPr id="9235" name="图片 37" descr="C:/Users/nikol/Downloads/steganography-1.jpgsteganography-1"/>
          <p:cNvPicPr>
            <a:picLocks noChangeAspect="1"/>
          </p:cNvPicPr>
          <p:nvPr/>
        </p:nvPicPr>
        <p:blipFill>
          <a:blip r:embed="rId1"/>
          <a:srcRect l="10284" r="10284"/>
          <a:stretch>
            <a:fillRect/>
          </a:stretch>
        </p:blipFill>
        <p:spPr>
          <a:xfrm>
            <a:off x="840105" y="1808480"/>
            <a:ext cx="7148195" cy="465518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Gde se koristi steganografija?</a:t>
            </a:r>
            <a:endParaRPr kumimoji="0" lang="en-US" altLang="en-US" sz="4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2290" name="图片 2" descr="C:/Users/nikol/Downloads/Flowchart_ENG.pngFlowchart_ENG"/>
          <p:cNvPicPr>
            <a:picLocks noChangeAspect="1"/>
          </p:cNvPicPr>
          <p:nvPr/>
        </p:nvPicPr>
        <p:blipFill>
          <a:blip r:embed="rId1"/>
          <a:srcRect t="165" b="165"/>
          <a:stretch>
            <a:fillRect/>
          </a:stretch>
        </p:blipFill>
        <p:spPr>
          <a:xfrm>
            <a:off x="840105" y="1809750"/>
            <a:ext cx="3705860" cy="440245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/>
          <p:nvPr/>
        </p:nvSpPr>
        <p:spPr>
          <a:xfrm>
            <a:off x="4768850" y="1822450"/>
            <a:ext cx="2456180" cy="4401185"/>
          </a:xfrm>
          <a:prstGeom prst="rect">
            <a:avLst/>
          </a:prstGeom>
          <a:solidFill>
            <a:srgbClr val="1665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293" name="图片 6" descr="C:/Users/nikol/Downloads/Cyberattack-Steganography.pngCyberattack-Steganography"/>
          <p:cNvPicPr>
            <a:picLocks noChangeAspect="1"/>
          </p:cNvPicPr>
          <p:nvPr/>
        </p:nvPicPr>
        <p:blipFill>
          <a:blip r:embed="rId2"/>
          <a:srcRect t="4749" b="4749"/>
          <a:stretch>
            <a:fillRect/>
          </a:stretch>
        </p:blipFill>
        <p:spPr>
          <a:xfrm>
            <a:off x="7433945" y="1822450"/>
            <a:ext cx="4580890" cy="2397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矩形 8"/>
          <p:cNvSpPr/>
          <p:nvPr/>
        </p:nvSpPr>
        <p:spPr>
          <a:xfrm>
            <a:off x="7447915" y="4351655"/>
            <a:ext cx="4562475" cy="1860550"/>
          </a:xfrm>
          <a:prstGeom prst="rect">
            <a:avLst/>
          </a:prstGeom>
          <a:solidFill>
            <a:srgbClr val="E086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296" name="矩形 9"/>
          <p:cNvSpPr/>
          <p:nvPr/>
        </p:nvSpPr>
        <p:spPr>
          <a:xfrm>
            <a:off x="4754563" y="1822133"/>
            <a:ext cx="2470150" cy="4246245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pPr marL="285750" indent="-285750" algn="l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Za skrivenu komunikaciju</a:t>
            </a: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Za digitalni watermarking i za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š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titu autorskih prava</a:t>
            </a: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U bezbednosnim i forenzi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č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kim sistemima</a:t>
            </a: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285750" indent="-285750" algn="l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U istra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ž</a:t>
            </a: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ivanju bezbednosti i analizi ranjivosti</a:t>
            </a: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sp>
        <p:nvSpPr>
          <p:cNvPr id="12297" name="矩形 10"/>
          <p:cNvSpPr/>
          <p:nvPr/>
        </p:nvSpPr>
        <p:spPr>
          <a:xfrm>
            <a:off x="7447915" y="4352290"/>
            <a:ext cx="4560570" cy="1871345"/>
          </a:xfrm>
          <a:prstGeom prst="rect">
            <a:avLst/>
          </a:prstGeom>
          <a:noFill/>
          <a:ln w="9525">
            <a:noFill/>
          </a:ln>
        </p:spPr>
        <p:txBody>
          <a:bodyPr wrap="square" anchor="ctr" anchorCtr="0">
            <a:noAutofit/>
          </a:bodyPr>
          <a:p>
            <a:pPr algn="ctr">
              <a:buFont typeface="Wingdings" panose="05000000000000000000" charset="0"/>
            </a:pPr>
            <a:r>
              <a:rPr lang="en-US" altLang="en-US" sz="2400" dirty="0">
                <a:solidFill>
                  <a:schemeClr val="bg1"/>
                </a:solidFill>
                <a:ea typeface="Arial" panose="020B0604020202020204" pitchFamily="34" charset="0"/>
                <a:sym typeface="+mn-ea"/>
              </a:rPr>
              <a:t>Može se koristiti i legitimno i zloupotrebiti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Osnovna ideja steganografije</a:t>
            </a:r>
            <a:endParaRPr kumimoji="0" lang="en-US" altLang="en-US" sz="4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圆角矩形 4"/>
          <p:cNvSpPr>
            <a:spLocks noChangeAspect="1"/>
          </p:cNvSpPr>
          <p:nvPr/>
        </p:nvSpPr>
        <p:spPr>
          <a:xfrm>
            <a:off x="10431145" y="4706620"/>
            <a:ext cx="1079500" cy="1079500"/>
          </a:xfrm>
          <a:prstGeom prst="roundRect">
            <a:avLst>
              <a:gd name="adj" fmla="val 31317"/>
            </a:avLst>
          </a:prstGeom>
          <a:solidFill>
            <a:srgbClr val="675E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" name="圆角矩形 19"/>
          <p:cNvSpPr>
            <a:spLocks noChangeAspect="1"/>
          </p:cNvSpPr>
          <p:nvPr/>
        </p:nvSpPr>
        <p:spPr>
          <a:xfrm>
            <a:off x="8119745" y="4706620"/>
            <a:ext cx="1079500" cy="1079500"/>
          </a:xfrm>
          <a:prstGeom prst="roundRect">
            <a:avLst>
              <a:gd name="adj" fmla="val 31317"/>
            </a:avLst>
          </a:prstGeom>
          <a:solidFill>
            <a:srgbClr val="E086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6" name="圆角矩形 25"/>
          <p:cNvSpPr>
            <a:spLocks noChangeAspect="1"/>
          </p:cNvSpPr>
          <p:nvPr/>
        </p:nvSpPr>
        <p:spPr>
          <a:xfrm>
            <a:off x="5809933" y="4706620"/>
            <a:ext cx="1079500" cy="1079500"/>
          </a:xfrm>
          <a:prstGeom prst="roundRect">
            <a:avLst>
              <a:gd name="adj" fmla="val 31317"/>
            </a:avLst>
          </a:prstGeom>
          <a:solidFill>
            <a:srgbClr val="1C7C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420" name="矩形 36"/>
          <p:cNvSpPr/>
          <p:nvPr/>
        </p:nvSpPr>
        <p:spPr>
          <a:xfrm>
            <a:off x="5866765" y="5836920"/>
            <a:ext cx="958215" cy="33718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r>
              <a:rPr lang="sr-Latn-RS" altLang="en-US" sz="1600" dirty="0">
                <a:solidFill>
                  <a:schemeClr val="bg1"/>
                </a:solidFill>
                <a:latin typeface="Calibri Light" panose="020F0302020204030204" pitchFamily="34" charset="0"/>
                <a:ea typeface="Microsoft YaHei Light" panose="020B0502040204020203" pitchFamily="34" charset="-122"/>
              </a:rPr>
              <a:t>CAPACITY</a:t>
            </a:r>
            <a:endParaRPr lang="sr-Latn-RS" altLang="en-US" sz="1600" dirty="0">
              <a:solidFill>
                <a:schemeClr val="bg1"/>
              </a:solidFill>
              <a:latin typeface="Calibri Light" panose="020F0302020204030204" pitchFamily="34" charset="0"/>
              <a:ea typeface="Microsoft YaHei Light" panose="020B0502040204020203" pitchFamily="34" charset="-122"/>
            </a:endParaRPr>
          </a:p>
        </p:txBody>
      </p:sp>
      <p:sp>
        <p:nvSpPr>
          <p:cNvPr id="17421" name="矩形 37"/>
          <p:cNvSpPr/>
          <p:nvPr/>
        </p:nvSpPr>
        <p:spPr>
          <a:xfrm>
            <a:off x="8179118" y="5831205"/>
            <a:ext cx="960120" cy="33718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r>
              <a:rPr lang="sr-Latn-RS" altLang="en-US" sz="1600" dirty="0">
                <a:solidFill>
                  <a:schemeClr val="bg1"/>
                </a:solidFill>
                <a:latin typeface="Calibri Light" panose="020F0302020204030204" pitchFamily="34" charset="0"/>
                <a:ea typeface="Microsoft YaHei Light" panose="020B0502040204020203" pitchFamily="34" charset="-122"/>
              </a:rPr>
              <a:t>SECURITY</a:t>
            </a:r>
            <a:endParaRPr lang="sr-Latn-RS" altLang="en-US" sz="1600" dirty="0">
              <a:solidFill>
                <a:schemeClr val="bg1"/>
              </a:solidFill>
              <a:latin typeface="Calibri Light" panose="020F0302020204030204" pitchFamily="34" charset="0"/>
              <a:ea typeface="Microsoft YaHei Light" panose="020B0502040204020203" pitchFamily="34" charset="-122"/>
            </a:endParaRPr>
          </a:p>
        </p:txBody>
      </p:sp>
      <p:sp>
        <p:nvSpPr>
          <p:cNvPr id="17422" name="矩形 38"/>
          <p:cNvSpPr/>
          <p:nvPr/>
        </p:nvSpPr>
        <p:spPr>
          <a:xfrm>
            <a:off x="10343833" y="5835015"/>
            <a:ext cx="1257935" cy="33718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r>
              <a:rPr lang="sr-Latn-RS" altLang="en-US" sz="1600" dirty="0">
                <a:solidFill>
                  <a:schemeClr val="bg1"/>
                </a:solidFill>
                <a:latin typeface="Calibri Light" panose="020F0302020204030204" pitchFamily="34" charset="0"/>
                <a:ea typeface="Microsoft YaHei Light" panose="020B0502040204020203" pitchFamily="34" charset="-122"/>
              </a:rPr>
              <a:t>ROBUSTNESS</a:t>
            </a:r>
            <a:endParaRPr lang="sr-Latn-RS" altLang="en-US" sz="1600" dirty="0">
              <a:solidFill>
                <a:schemeClr val="bg1"/>
              </a:solidFill>
              <a:latin typeface="Calibri Light" panose="020F0302020204030204" pitchFamily="34" charset="0"/>
              <a:ea typeface="Microsoft YaHei Light" panose="020B0502040204020203" pitchFamily="34" charset="-122"/>
            </a:endParaRPr>
          </a:p>
        </p:txBody>
      </p:sp>
      <p:sp>
        <p:nvSpPr>
          <p:cNvPr id="17424" name="矩形 40"/>
          <p:cNvSpPr/>
          <p:nvPr/>
        </p:nvSpPr>
        <p:spPr>
          <a:xfrm>
            <a:off x="838200" y="1792605"/>
            <a:ext cx="11044555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marL="457200" indent="-457200">
              <a:buFont typeface="Wingdings" panose="05000000000000000000" charset="0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Cover image </a:t>
            </a:r>
            <a:r>
              <a:rPr lang="sr-Latn-R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-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 originalna slika koja slu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ž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i kao nosa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č 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poruke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457200" indent="-457200">
              <a:buFont typeface="Wingdings" panose="05000000000000000000" charset="0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Secret message </a:t>
            </a:r>
            <a:r>
              <a:rPr lang="sr-Latn-R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-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 poruka koju 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ž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elimo da sakrijemo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457200" indent="-457200">
              <a:buFont typeface="Wingdings" panose="05000000000000000000" charset="0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Stego image </a:t>
            </a:r>
            <a:r>
              <a:rPr lang="sr-Latn-R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-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 nova slika sa ugra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đ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enom porukom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  <a:p>
            <a:pPr marL="457200" indent="-457200">
              <a:buFont typeface="Wingdings" panose="05000000000000000000" charset="0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Dobar stego sistem treba da sa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č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uva vizuelni izgled slike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sp>
        <p:nvSpPr>
          <p:cNvPr id="17425" name="矩形 41"/>
          <p:cNvSpPr/>
          <p:nvPr/>
        </p:nvSpPr>
        <p:spPr>
          <a:xfrm>
            <a:off x="5436870" y="6174105"/>
            <a:ext cx="1822450" cy="52197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ctr"/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koliko podataka mo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ž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e da se sakrije</a:t>
            </a:r>
            <a:endParaRPr lang="en-US" altLang="en-US" sz="1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sp>
        <p:nvSpPr>
          <p:cNvPr id="17426" name="矩形 42"/>
          <p:cNvSpPr/>
          <p:nvPr/>
        </p:nvSpPr>
        <p:spPr>
          <a:xfrm>
            <a:off x="7748905" y="6174105"/>
            <a:ext cx="1822450" cy="52197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pPr algn="ctr"/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koliko je te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š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ko otkriti ili izvu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ć</a:t>
            </a:r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i poruku</a:t>
            </a:r>
            <a:endParaRPr lang="en-US" altLang="en-US" sz="1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sp>
        <p:nvSpPr>
          <p:cNvPr id="17427" name="矩形 43"/>
          <p:cNvSpPr/>
          <p:nvPr/>
        </p:nvSpPr>
        <p:spPr>
          <a:xfrm>
            <a:off x="10060940" y="6176010"/>
            <a:ext cx="1822450" cy="52197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pPr algn="ctr"/>
            <a:r>
              <a:rPr lang="en-US" altLang="en-US" sz="1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koliko poruka opstaje nakon izmena fajla</a:t>
            </a:r>
            <a:endParaRPr lang="en-US" altLang="en-US" sz="1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pic>
        <p:nvPicPr>
          <p:cNvPr id="37" name="Picture 36"/>
          <p:cNvPicPr/>
          <p:nvPr/>
        </p:nvPicPr>
        <p:blipFill>
          <a:blip r:embed="rId1"/>
          <a:stretch>
            <a:fillRect/>
          </a:stretch>
        </p:blipFill>
        <p:spPr>
          <a:xfrm>
            <a:off x="5965031" y="4865211"/>
            <a:ext cx="762317" cy="762317"/>
          </a:xfrm>
          <a:prstGeom prst="rect">
            <a:avLst/>
          </a:prstGeom>
        </p:spPr>
      </p:pic>
      <p:pic>
        <p:nvPicPr>
          <p:cNvPr id="38" name="Picture 37"/>
          <p:cNvPicPr/>
          <p:nvPr/>
        </p:nvPicPr>
        <p:blipFill>
          <a:blip r:embed="rId2"/>
          <a:stretch>
            <a:fillRect/>
          </a:stretch>
        </p:blipFill>
        <p:spPr>
          <a:xfrm>
            <a:off x="8278971" y="4865211"/>
            <a:ext cx="762317" cy="762317"/>
          </a:xfrm>
          <a:prstGeom prst="rect">
            <a:avLst/>
          </a:prstGeom>
        </p:spPr>
      </p:pic>
      <p:pic>
        <p:nvPicPr>
          <p:cNvPr id="39" name="Picture 38"/>
          <p:cNvPicPr/>
          <p:nvPr/>
        </p:nvPicPr>
        <p:blipFill>
          <a:blip r:embed="rId3"/>
          <a:stretch>
            <a:fillRect/>
          </a:stretch>
        </p:blipFill>
        <p:spPr>
          <a:xfrm>
            <a:off x="10591641" y="4865211"/>
            <a:ext cx="762317" cy="762317"/>
          </a:xfrm>
          <a:prstGeom prst="rect">
            <a:avLst/>
          </a:prstGeom>
        </p:spPr>
      </p:pic>
      <p:sp>
        <p:nvSpPr>
          <p:cNvPr id="40" name="矩形 40"/>
          <p:cNvSpPr/>
          <p:nvPr/>
        </p:nvSpPr>
        <p:spPr>
          <a:xfrm>
            <a:off x="5543550" y="4041140"/>
            <a:ext cx="2576195" cy="46037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Va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ž</a:t>
            </a:r>
            <a:r>
              <a:rPr lang="en-US" altLang="en-US" sz="2400" dirty="0">
                <a:solidFill>
                  <a:schemeClr val="bg1"/>
                </a:solidFill>
                <a:latin typeface="Calibri" panose="020F0502020204030204" pitchFamily="34" charset="0"/>
                <a:ea typeface="Arial" panose="020B0604020202020204" pitchFamily="34" charset="0"/>
              </a:rPr>
              <a:t>ni pojmovi:</a:t>
            </a:r>
            <a:endParaRPr lang="en-US" altLang="en-US" sz="2400" dirty="0">
              <a:solidFill>
                <a:schemeClr val="bg1"/>
              </a:solidFill>
              <a:latin typeface="Calibri" panose="020F0502020204030204" pitchFamily="34" charset="0"/>
              <a:ea typeface="Arial" panose="020B0604020202020204" pitchFamily="34" charset="0"/>
            </a:endParaRPr>
          </a:p>
        </p:txBody>
      </p:sp>
      <p:pic>
        <p:nvPicPr>
          <p:cNvPr id="41" name="Picture 40"/>
          <p:cNvPicPr/>
          <p:nvPr/>
        </p:nvPicPr>
        <p:blipFill>
          <a:blip r:embed="rId4"/>
          <a:stretch>
            <a:fillRect/>
          </a:stretch>
        </p:blipFill>
        <p:spPr>
          <a:xfrm>
            <a:off x="1376680" y="3557270"/>
            <a:ext cx="3203575" cy="30524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/>
              <a:t>Šta je </a:t>
            </a:r>
            <a:r>
              <a:rPr lang="en-US" altLang="sr-Latn-RS"/>
              <a:t>LSB</a:t>
            </a:r>
            <a:r>
              <a:rPr lang="en-US" altLang="sr-Latn-RS"/>
              <a:t>  </a:t>
            </a:r>
            <a:r>
              <a:rPr lang="sr-Latn-RS"/>
              <a:t>(Least Significant Bit)?</a:t>
            </a:r>
            <a:endParaRPr lang="sr-Latn-RS"/>
          </a:p>
        </p:txBody>
      </p:sp>
      <p:sp>
        <p:nvSpPr>
          <p:cNvPr id="9" name="矩形 8"/>
          <p:cNvSpPr/>
          <p:nvPr/>
        </p:nvSpPr>
        <p:spPr>
          <a:xfrm>
            <a:off x="8138160" y="3136265"/>
            <a:ext cx="3894455" cy="3524250"/>
          </a:xfrm>
          <a:prstGeom prst="rect">
            <a:avLst/>
          </a:prstGeom>
          <a:solidFill>
            <a:srgbClr val="1C7C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138160" y="3136265"/>
            <a:ext cx="391223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>
                <a:solidFill>
                  <a:schemeClr val="bg1"/>
                </a:solidFill>
              </a:rPr>
              <a:t>LSB (Least Significant Bit) predstavlja najmanje zna</a:t>
            </a:r>
            <a:r>
              <a:rPr lang="en-US" altLang="en-US">
                <a:solidFill>
                  <a:schemeClr val="bg1"/>
                </a:solidFill>
              </a:rPr>
              <a:t>č</a:t>
            </a:r>
            <a:r>
              <a:rPr lang="en-US" altLang="en-US">
                <a:solidFill>
                  <a:schemeClr val="bg1"/>
                </a:solidFill>
              </a:rPr>
              <a:t>ajan bit u binarnom zapisu broja, </a:t>
            </a:r>
            <a:r>
              <a:rPr lang="en-US" altLang="en-US">
                <a:solidFill>
                  <a:schemeClr val="bg1"/>
                </a:solidFill>
              </a:rPr>
              <a:t>č</a:t>
            </a:r>
            <a:r>
              <a:rPr lang="en-US" altLang="en-US">
                <a:solidFill>
                  <a:schemeClr val="bg1"/>
                </a:solidFill>
              </a:rPr>
              <a:t>ija promena najmanje uti</a:t>
            </a:r>
            <a:r>
              <a:rPr lang="en-US" altLang="en-US">
                <a:solidFill>
                  <a:schemeClr val="bg1"/>
                </a:solidFill>
              </a:rPr>
              <a:t>č</a:t>
            </a:r>
            <a:r>
              <a:rPr lang="en-US" altLang="en-US">
                <a:solidFill>
                  <a:schemeClr val="bg1"/>
                </a:solidFill>
              </a:rPr>
              <a:t>e na ukupnu vrednost podatka.</a:t>
            </a:r>
            <a:endParaRPr lang="en-US" alt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>
                <a:solidFill>
                  <a:schemeClr val="bg1"/>
                </a:solidFill>
                <a:sym typeface="+mn-ea"/>
              </a:rPr>
              <a:t>Svaki piksel slike sastoji se od RGB kanala, odnosno crvene, zelene i plave komponente. Svaka od tih komponenti predstavlja se sa 8 bitova.</a:t>
            </a:r>
            <a:endParaRPr lang="en-US" alt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>
              <a:solidFill>
                <a:schemeClr val="bg1"/>
              </a:solidFill>
            </a:endParaRPr>
          </a:p>
        </p:txBody>
      </p:sp>
      <p:pic>
        <p:nvPicPr>
          <p:cNvPr id="5" name="Picture 4" descr="lsb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805" y="1525270"/>
            <a:ext cx="6407150" cy="2514600"/>
          </a:xfrm>
          <a:prstGeom prst="rect">
            <a:avLst/>
          </a:prstGeom>
        </p:spPr>
      </p:pic>
      <p:pic>
        <p:nvPicPr>
          <p:cNvPr id="6" name="Picture 5" descr="broja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05" y="4534535"/>
            <a:ext cx="6406515" cy="2016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Kako se poruka pretvara u bitove?</a:t>
            </a:r>
            <a:endParaRPr lang="en-US"/>
          </a:p>
        </p:txBody>
      </p:sp>
      <p:pic>
        <p:nvPicPr>
          <p:cNvPr id="3" name="Picture 2" descr="ChatGPT Image 2. јун 2026. 00_12_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10" y="2515870"/>
            <a:ext cx="5366385" cy="3366135"/>
          </a:xfrm>
          <a:prstGeom prst="rect">
            <a:avLst/>
          </a:prstGeom>
        </p:spPr>
      </p:pic>
      <p:pic>
        <p:nvPicPr>
          <p:cNvPr id="4" name="Picture 3" descr="ChatGPT Image 2. јун 2026. 00_17_09(1)"/>
          <p:cNvPicPr>
            <a:picLocks noChangeAspect="1"/>
          </p:cNvPicPr>
          <p:nvPr/>
        </p:nvPicPr>
        <p:blipFill>
          <a:blip r:embed="rId2"/>
          <a:srcRect l="1783" t="3274" b="3849"/>
          <a:stretch>
            <a:fillRect/>
          </a:stretch>
        </p:blipFill>
        <p:spPr>
          <a:xfrm>
            <a:off x="5751830" y="2515870"/>
            <a:ext cx="6100445" cy="3365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Kako se menja poslednji bit?</a:t>
            </a:r>
            <a:endParaRPr lang="en-US"/>
          </a:p>
        </p:txBody>
      </p:sp>
      <p:pic>
        <p:nvPicPr>
          <p:cNvPr id="4" name="Picture 3" descr="ChatGPT Image 2. јун 2026. 00_31_5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10" y="1691005"/>
            <a:ext cx="5547995" cy="3764915"/>
          </a:xfrm>
          <a:prstGeom prst="rect">
            <a:avLst/>
          </a:prstGeom>
        </p:spPr>
      </p:pic>
      <p:pic>
        <p:nvPicPr>
          <p:cNvPr id="5" name="Picture 4" descr="ChatGPT Image 2. јун 2026. 00_40_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2840" y="1691005"/>
            <a:ext cx="5501005" cy="37553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305435" y="4285615"/>
            <a:ext cx="8728075" cy="2458720"/>
          </a:xfrm>
          <a:prstGeom prst="rect">
            <a:avLst/>
          </a:prstGeom>
          <a:solidFill>
            <a:srgbClr val="E08648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Za</a:t>
            </a:r>
            <a:r>
              <a:rPr lang="en-US" altLang="en-US"/>
              <a:t>š</a:t>
            </a:r>
            <a:r>
              <a:rPr lang="en-US" altLang="en-US"/>
              <a:t>to prelazimo na JPEG? (Prostorni vs. Transformacioni domen)</a:t>
            </a:r>
            <a:endParaRPr lang="en-US" alt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9285" y="4374515"/>
            <a:ext cx="4090670" cy="230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145155" y="1694180"/>
            <a:ext cx="8728075" cy="2458720"/>
          </a:xfrm>
          <a:prstGeom prst="rect">
            <a:avLst/>
          </a:prstGeom>
          <a:solidFill>
            <a:srgbClr val="1C7C5A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781175"/>
            <a:ext cx="3923030" cy="222885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5142230" y="1781175"/>
            <a:ext cx="3054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bg1"/>
                </a:solidFill>
              </a:rPr>
              <a:t>Prostorni domen (PNG / BMP)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5247640" y="2296160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v"/>
            </a:pPr>
            <a:r>
              <a:rPr lang="en-US">
                <a:solidFill>
                  <a:schemeClr val="bg1"/>
                </a:solidFill>
              </a:rPr>
              <a:t>Podaci se kriju direktno u pikselima</a:t>
            </a:r>
            <a:r>
              <a:rPr lang="sr-Latn-RS" altLang="en-US">
                <a:solidFill>
                  <a:schemeClr val="bg1"/>
                </a:solidFill>
              </a:rPr>
              <a:t>.</a:t>
            </a:r>
            <a:endParaRPr 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b="1">
                <a:solidFill>
                  <a:srgbClr val="E08648"/>
                </a:solidFill>
              </a:rPr>
              <a:t>Vizuelni napadi</a:t>
            </a:r>
            <a:r>
              <a:rPr lang="en-US">
                <a:solidFill>
                  <a:srgbClr val="E08648"/>
                </a:solidFill>
              </a:rPr>
              <a:t> </a:t>
            </a:r>
            <a:r>
              <a:rPr lang="en-US">
                <a:solidFill>
                  <a:schemeClr val="bg1"/>
                </a:solidFill>
              </a:rPr>
              <a:t>- Izolacijom LSB bita</a:t>
            </a:r>
            <a:r>
              <a:rPr lang="sr-Latn-RS" altLang="en-US">
                <a:solidFill>
                  <a:schemeClr val="bg1"/>
                </a:solidFill>
              </a:rPr>
              <a:t>,</a:t>
            </a:r>
            <a:r>
              <a:rPr lang="en-US">
                <a:solidFill>
                  <a:schemeClr val="bg1"/>
                </a:solidFill>
              </a:rPr>
              <a:t> poruka iska</a:t>
            </a:r>
            <a:r>
              <a:rPr lang="sr-Latn-RS" altLang="en-US">
                <a:solidFill>
                  <a:schemeClr val="bg1"/>
                </a:solidFill>
              </a:rPr>
              <a:t>č</a:t>
            </a:r>
            <a:r>
              <a:rPr lang="en-US">
                <a:solidFill>
                  <a:schemeClr val="bg1"/>
                </a:solidFill>
              </a:rPr>
              <a:t>e kao jasan geometrijski oblik ili tekstura</a:t>
            </a:r>
            <a:r>
              <a:rPr lang="sr-Latn-RS" altLang="en-US">
                <a:solidFill>
                  <a:schemeClr val="bg1"/>
                </a:solidFill>
              </a:rPr>
              <a:t> u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sr-Latn-RS" altLang="en-US">
                <a:solidFill>
                  <a:schemeClr val="bg1"/>
                </a:solidFill>
              </a:rPr>
              <a:t>š</a:t>
            </a:r>
            <a:r>
              <a:rPr lang="en-US">
                <a:solidFill>
                  <a:schemeClr val="bg1"/>
                </a:solidFill>
              </a:rPr>
              <a:t>um</a:t>
            </a:r>
            <a:r>
              <a:rPr lang="sr-Latn-RS" altLang="en-US">
                <a:solidFill>
                  <a:schemeClr val="bg1"/>
                </a:solidFill>
              </a:rPr>
              <a:t>u.</a:t>
            </a:r>
            <a:endParaRPr lang="sr-Latn-RS" altLang="en-US">
              <a:solidFill>
                <a:schemeClr val="bg1"/>
              </a:solidFill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636270" y="4508500"/>
            <a:ext cx="3054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solidFill>
                  <a:schemeClr val="bg1"/>
                </a:solidFill>
              </a:rPr>
              <a:t>Domen transformacije (JPEG)</a:t>
            </a:r>
            <a:endParaRPr lang="en-US" altLang="en-US">
              <a:solidFill>
                <a:schemeClr val="bg1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715010" y="5023485"/>
            <a:ext cx="520573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>
                <a:solidFill>
                  <a:schemeClr val="bg1"/>
                </a:solidFill>
              </a:rPr>
              <a:t>Podaci se ne kriju u pikselima, ve</a:t>
            </a:r>
            <a:r>
              <a:rPr lang="en-US" altLang="en-US">
                <a:solidFill>
                  <a:schemeClr val="bg1"/>
                </a:solidFill>
              </a:rPr>
              <a:t>ć </a:t>
            </a:r>
            <a:r>
              <a:rPr lang="en-US" altLang="en-US">
                <a:solidFill>
                  <a:schemeClr val="bg1"/>
                </a:solidFill>
              </a:rPr>
              <a:t>u matemati</a:t>
            </a:r>
            <a:r>
              <a:rPr lang="en-US" altLang="en-US">
                <a:solidFill>
                  <a:schemeClr val="bg1"/>
                </a:solidFill>
              </a:rPr>
              <a:t>č</a:t>
            </a:r>
            <a:r>
              <a:rPr lang="en-US" altLang="en-US">
                <a:solidFill>
                  <a:schemeClr val="bg1"/>
                </a:solidFill>
              </a:rPr>
              <a:t>kim koeficijentima </a:t>
            </a:r>
            <a:r>
              <a:rPr lang="sr-Latn-RS" altLang="en-US">
                <a:solidFill>
                  <a:schemeClr val="bg1"/>
                </a:solidFill>
              </a:rPr>
              <a:t>.</a:t>
            </a:r>
            <a:endParaRPr lang="en-US" altLang="en-US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b="1">
                <a:solidFill>
                  <a:srgbClr val="1C7C5A"/>
                </a:solidFill>
              </a:rPr>
              <a:t>Prednost:</a:t>
            </a:r>
            <a:r>
              <a:rPr lang="en-US" altLang="en-US">
                <a:solidFill>
                  <a:schemeClr val="bg1"/>
                </a:solidFill>
              </a:rPr>
              <a:t> Vizuelni napadi su nemogu</a:t>
            </a:r>
            <a:r>
              <a:rPr lang="en-US" altLang="en-US">
                <a:solidFill>
                  <a:schemeClr val="bg1"/>
                </a:solidFill>
              </a:rPr>
              <a:t>ć</a:t>
            </a:r>
            <a:r>
              <a:rPr lang="en-US" altLang="en-US">
                <a:solidFill>
                  <a:schemeClr val="bg1"/>
                </a:solidFill>
              </a:rPr>
              <a:t>i. Izmene se tokom prikaza prirodno "razma</a:t>
            </a:r>
            <a:r>
              <a:rPr lang="en-US" altLang="en-US">
                <a:solidFill>
                  <a:schemeClr val="bg1"/>
                </a:solidFill>
              </a:rPr>
              <a:t>ž</a:t>
            </a:r>
            <a:r>
              <a:rPr lang="en-US" altLang="en-US">
                <a:solidFill>
                  <a:schemeClr val="bg1"/>
                </a:solidFill>
              </a:rPr>
              <a:t>u" preko celog bloka od </a:t>
            </a:r>
            <a:r>
              <a:rPr lang="sr-Latn-RS" altLang="en-US">
                <a:solidFill>
                  <a:schemeClr val="bg1"/>
                </a:solidFill>
              </a:rPr>
              <a:t>8x8 </a:t>
            </a:r>
            <a:r>
              <a:rPr lang="en-US" altLang="en-US">
                <a:solidFill>
                  <a:schemeClr val="bg1"/>
                </a:solidFill>
              </a:rPr>
              <a:t>piksela.</a:t>
            </a:r>
            <a:endParaRPr lang="en-US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 fontScale="9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en-US">
                <a:sym typeface="+mn-ea"/>
              </a:rPr>
              <a:t>Kako JPEG priprema teren? (DCT i Kvantizacija)</a:t>
            </a:r>
            <a:endParaRPr kumimoji="0" lang="zh-CN" altLang="en-US" sz="4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197850" y="1808480"/>
            <a:ext cx="3894455" cy="4154170"/>
          </a:xfrm>
          <a:prstGeom prst="rect">
            <a:avLst/>
          </a:prstGeom>
          <a:solidFill>
            <a:srgbClr val="1C7C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3" name="矩形 9"/>
          <p:cNvSpPr/>
          <p:nvPr/>
        </p:nvSpPr>
        <p:spPr>
          <a:xfrm>
            <a:off x="8303260" y="2125980"/>
            <a:ext cx="3683635" cy="351980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noAutofit/>
          </a:bodyPr>
          <a:p>
            <a:pPr marL="342900" indent="-342900" algn="just">
              <a:buFont typeface="Wingdings" panose="05000000000000000000" charset="0"/>
              <a:buChar char="v"/>
            </a:pPr>
            <a:r>
              <a:rPr lang="sr-Latn-R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Podela na blokove</a:t>
            </a: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endParaRPr lang="en-US" altLang="en-US" sz="20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Diskretna kosinusna teorema </a:t>
            </a:r>
            <a:r>
              <a:rPr lang="sr-Latn-R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i podela na:</a:t>
            </a: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800100" lvl="1" indent="-342900" algn="just">
              <a:buFont typeface="Wingdings" panose="05000000000000000000" charset="0"/>
              <a:buChar char="v"/>
            </a:pPr>
            <a:r>
              <a:rPr lang="en-U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Niske frekvencije</a:t>
            </a: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800100" lvl="1" indent="-342900" algn="just">
              <a:buFont typeface="Wingdings" panose="05000000000000000000" charset="0"/>
              <a:buChar char="v"/>
            </a:pPr>
            <a:r>
              <a:rPr lang="sr-Latn-R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Visoke frekvencije</a:t>
            </a: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800100" lvl="1" indent="-342900" algn="just">
              <a:buFont typeface="Wingdings" panose="05000000000000000000" charset="0"/>
              <a:buChar char="v"/>
            </a:pP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lvl="0" indent="-342900" algn="just">
              <a:buFont typeface="Wingdings" panose="05000000000000000000" charset="0"/>
              <a:buChar char="v"/>
            </a:pPr>
            <a:r>
              <a:rPr lang="sr-Latn-R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Kvantizacija</a:t>
            </a: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lvl="0" indent="-342900" algn="just">
              <a:buFont typeface="Wingdings" panose="05000000000000000000" charset="0"/>
              <a:buChar char="v"/>
            </a:pPr>
            <a:endParaRPr lang="en-U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  <a:p>
            <a:pPr marL="342900" indent="-342900" algn="just">
              <a:buFont typeface="Wingdings" panose="05000000000000000000" charset="0"/>
              <a:buChar char="v"/>
            </a:pPr>
            <a:r>
              <a:rPr lang="sr-Latn-RS" altLang="en-US" sz="1800" dirty="0">
                <a:solidFill>
                  <a:schemeClr val="bg1"/>
                </a:solidFill>
                <a:latin typeface="Calibri" panose="020F0502020204030204" pitchFamily="34" charset="0"/>
                <a:ea typeface="Microsoft YaHei Light" panose="020B0502040204020203" pitchFamily="34" charset="-122"/>
              </a:rPr>
              <a:t>Gde se čuva poruka?</a:t>
            </a:r>
            <a:endParaRPr lang="sr-Latn-RS" altLang="en-US" sz="1800" dirty="0">
              <a:solidFill>
                <a:schemeClr val="bg1"/>
              </a:solidFill>
              <a:latin typeface="Calibri" panose="020F0502020204030204" pitchFamily="34" charset="0"/>
              <a:ea typeface="Microsoft YaHei Light" panose="020B0502040204020203" pitchFamily="34" charset="-122"/>
            </a:endParaRPr>
          </a:p>
        </p:txBody>
      </p:sp>
      <p:pic>
        <p:nvPicPr>
          <p:cNvPr id="9235" name="图片 37" descr="C:/Users/Bane/Downloads/DCT-coefficients-after-quantization.webpDCT-coefficients-after-quantization"/>
          <p:cNvPicPr>
            <a:picLocks noChangeAspect="1"/>
          </p:cNvPicPr>
          <p:nvPr/>
        </p:nvPicPr>
        <p:blipFill>
          <a:blip r:embed="rId1"/>
          <a:srcRect l="-116" r="-116"/>
          <a:stretch>
            <a:fillRect/>
          </a:stretch>
        </p:blipFill>
        <p:spPr>
          <a:xfrm>
            <a:off x="839470" y="1808480"/>
            <a:ext cx="6379845" cy="415480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sr-Latn-RS" altLang="en-US"/>
              <a:t>JSteg</a:t>
            </a:r>
            <a:endParaRPr lang="sr-Latn-RS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0025" y="3429000"/>
            <a:ext cx="4199890" cy="262064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245" y="3429000"/>
            <a:ext cx="4422140" cy="265049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380615" y="6220460"/>
            <a:ext cx="2526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sr-Latn-RS" altLang="en-US">
                <a:solidFill>
                  <a:schemeClr val="bg1"/>
                </a:solidFill>
              </a:rPr>
              <a:t>Original image histogram</a:t>
            </a:r>
            <a:endParaRPr lang="sr-Latn-RS" altLang="en-US">
              <a:solidFill>
                <a:schemeClr val="bg1"/>
              </a:solidFill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47000" y="6220460"/>
            <a:ext cx="2500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sr-Latn-RS" altLang="en-US">
                <a:solidFill>
                  <a:schemeClr val="bg1"/>
                </a:solidFill>
              </a:rPr>
              <a:t>Stego image histogram</a:t>
            </a:r>
            <a:endParaRPr lang="sr-Latn-RS" altLang="en-US">
              <a:solidFill>
                <a:schemeClr val="bg1"/>
              </a:solidFill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875155" y="1623060"/>
            <a:ext cx="85826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50000"/>
              </a:lnSpc>
              <a:buFont typeface="Wingdings" panose="05000000000000000000" charset="0"/>
              <a:buChar char="v"/>
            </a:pPr>
            <a:r>
              <a:rPr lang="sr-Latn-RS" altLang="en-US" sz="2000">
                <a:solidFill>
                  <a:schemeClr val="bg1"/>
                </a:solidFill>
              </a:rPr>
              <a:t>Ideja i pristup</a:t>
            </a:r>
            <a:endParaRPr lang="sr-Latn-RS" altLang="en-US" sz="200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v"/>
            </a:pPr>
            <a:r>
              <a:rPr lang="sr-Latn-RS" altLang="en-US" sz="2000">
                <a:solidFill>
                  <a:schemeClr val="bg1"/>
                </a:solidFill>
              </a:rPr>
              <a:t>Nedostatak</a:t>
            </a:r>
            <a:endParaRPr lang="sr-Latn-RS" altLang="en-US" sz="200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v"/>
            </a:pPr>
            <a:r>
              <a:rPr lang="sr-Latn-RS" altLang="en-US" sz="2000">
                <a:solidFill>
                  <a:schemeClr val="bg1"/>
                </a:solidFill>
              </a:rPr>
              <a:t>Statistički Hi-kvadrat test</a:t>
            </a:r>
            <a:endParaRPr lang="sr-Latn-RS" altLang="en-US" sz="20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/>
              <a:t>OutGuess (v0.1)</a:t>
            </a:r>
            <a:endParaRPr lang="en-US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2176145" y="2428240"/>
            <a:ext cx="7840345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Ideja</a:t>
            </a:r>
            <a:endParaRPr lang="en-US" altLang="en-US" sz="20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Za</a:t>
            </a:r>
            <a:r>
              <a:rPr lang="en-US" altLang="en-US" sz="2000" b="1">
                <a:solidFill>
                  <a:schemeClr val="bg1"/>
                </a:solidFill>
              </a:rPr>
              <a:t>š</a:t>
            </a:r>
            <a:r>
              <a:rPr lang="en-US" altLang="en-US" sz="2000" b="1">
                <a:solidFill>
                  <a:schemeClr val="bg1"/>
                </a:solidFill>
              </a:rPr>
              <a:t>to je bolji od obi</a:t>
            </a:r>
            <a:r>
              <a:rPr lang="en-US" altLang="en-US" sz="2000" b="1">
                <a:solidFill>
                  <a:schemeClr val="bg1"/>
                </a:solidFill>
              </a:rPr>
              <a:t>č</a:t>
            </a:r>
            <a:r>
              <a:rPr lang="en-US" altLang="en-US" sz="2000" b="1">
                <a:solidFill>
                  <a:schemeClr val="bg1"/>
                </a:solidFill>
              </a:rPr>
              <a:t>nog LSB-a? 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Rezultat: Globalni Hi-kvadrat test sa po</a:t>
            </a:r>
            <a:r>
              <a:rPr lang="en-US" altLang="en-US" sz="2000" b="1">
                <a:solidFill>
                  <a:schemeClr val="bg1"/>
                </a:solidFill>
              </a:rPr>
              <a:t>č</a:t>
            </a:r>
            <a:r>
              <a:rPr lang="en-US" altLang="en-US" sz="2000" b="1">
                <a:solidFill>
                  <a:schemeClr val="bg1"/>
                </a:solidFill>
              </a:rPr>
              <a:t>etka slike vi</a:t>
            </a:r>
            <a:r>
              <a:rPr lang="en-US" altLang="en-US" sz="2000" b="1">
                <a:solidFill>
                  <a:schemeClr val="bg1"/>
                </a:solidFill>
              </a:rPr>
              <a:t>š</a:t>
            </a:r>
            <a:r>
              <a:rPr lang="en-US" altLang="en-US" sz="2000" b="1">
                <a:solidFill>
                  <a:schemeClr val="bg1"/>
                </a:solidFill>
              </a:rPr>
              <a:t>e ne vidi anomaliju jer je </a:t>
            </a:r>
            <a:r>
              <a:rPr lang="en-US" altLang="en-US" sz="2000" b="1">
                <a:solidFill>
                  <a:schemeClr val="bg1"/>
                </a:solidFill>
              </a:rPr>
              <a:t>š</a:t>
            </a:r>
            <a:r>
              <a:rPr lang="en-US" altLang="en-US" sz="2000" b="1">
                <a:solidFill>
                  <a:schemeClr val="bg1"/>
                </a:solidFill>
              </a:rPr>
              <a:t>um previ</a:t>
            </a:r>
            <a:r>
              <a:rPr lang="en-US" altLang="en-US" sz="2000" b="1">
                <a:solidFill>
                  <a:schemeClr val="bg1"/>
                </a:solidFill>
              </a:rPr>
              <a:t>š</a:t>
            </a:r>
            <a:r>
              <a:rPr lang="en-US" altLang="en-US" sz="2000" b="1">
                <a:solidFill>
                  <a:schemeClr val="bg1"/>
                </a:solidFill>
              </a:rPr>
              <a:t>e razvu</a:t>
            </a:r>
            <a:r>
              <a:rPr lang="en-US" altLang="en-US" sz="2000" b="1">
                <a:solidFill>
                  <a:schemeClr val="bg1"/>
                </a:solidFill>
              </a:rPr>
              <a:t>č</a:t>
            </a:r>
            <a:r>
              <a:rPr lang="en-US" altLang="en-US" sz="2000" b="1">
                <a:solidFill>
                  <a:schemeClr val="bg1"/>
                </a:solidFill>
              </a:rPr>
              <a:t>en.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Kako ipak pada? </a:t>
            </a:r>
            <a:r>
              <a:rPr lang="sr-Latn-RS" altLang="en-US" sz="2000" b="1">
                <a:solidFill>
                  <a:schemeClr val="bg1"/>
                </a:solidFill>
              </a:rPr>
              <a:t>(Sliding window)</a:t>
            </a:r>
            <a:endParaRPr lang="sr-Latn-RS" altLang="en-US" sz="2000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/>
              <a:t>OutGuess 0.2 i F5</a:t>
            </a:r>
            <a:endParaRPr lang="en-US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2494280" y="2251075"/>
            <a:ext cx="720407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OutGuess 0.2 – Korektivne transformacije: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 b="1">
              <a:solidFill>
                <a:schemeClr val="bg1"/>
              </a:solidFill>
            </a:endParaRPr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Ideja</a:t>
            </a:r>
            <a:r>
              <a:rPr lang="sr-Latn-RS" altLang="en-US" sz="2000" b="1">
                <a:solidFill>
                  <a:schemeClr val="bg1"/>
                </a:solidFill>
              </a:rPr>
              <a:t> (Veštačka popravka histograma)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F5 – Matri</a:t>
            </a:r>
            <a:r>
              <a:rPr lang="en-US" altLang="en-US" sz="2000" b="1">
                <a:solidFill>
                  <a:schemeClr val="bg1"/>
                </a:solidFill>
              </a:rPr>
              <a:t>č</a:t>
            </a:r>
            <a:r>
              <a:rPr lang="en-US" altLang="en-US" sz="2000" b="1">
                <a:solidFill>
                  <a:schemeClr val="bg1"/>
                </a:solidFill>
              </a:rPr>
              <a:t>no kodiranje (Hammingov kod):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 b="1">
              <a:solidFill>
                <a:schemeClr val="bg1"/>
              </a:solidFill>
            </a:endParaRPr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Ideja: </a:t>
            </a:r>
            <a:r>
              <a:rPr lang="sr-Latn-RS" altLang="en-US" sz="2000" b="1">
                <a:solidFill>
                  <a:schemeClr val="bg1"/>
                </a:solidFill>
              </a:rPr>
              <a:t>Oduzimanje bitova</a:t>
            </a:r>
            <a:endParaRPr lang="en-US" altLang="en-US" sz="2000" b="1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charset="0"/>
              <a:buChar char="v"/>
            </a:pPr>
            <a:endParaRPr lang="en-US" altLang="en-US" sz="2000" b="1">
              <a:solidFill>
                <a:schemeClr val="bg1"/>
              </a:solidFill>
            </a:endParaRPr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US" sz="2000" b="1">
                <a:solidFill>
                  <a:schemeClr val="bg1"/>
                </a:solidFill>
              </a:rPr>
              <a:t>Efekat: </a:t>
            </a:r>
            <a:r>
              <a:rPr lang="sr-Latn-RS" altLang="en-US" sz="2000" b="1">
                <a:solidFill>
                  <a:schemeClr val="bg1"/>
                </a:solidFill>
              </a:rPr>
              <a:t>Upis veće količine podataka sa manjim izmenama</a:t>
            </a:r>
            <a:endParaRPr lang="sr-Latn-RS" altLang="en-US" sz="2000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438525" y="2262188"/>
            <a:ext cx="7913688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1200" cap="none" spc="3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Thanks</a:t>
            </a:r>
            <a:endParaRPr kumimoji="0" lang="en-US" altLang="zh-CN" sz="6000" b="1" i="0" u="none" strike="noStrike" kern="1200" cap="none" spc="3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雅黑细">
      <a:majorFont>
        <a:latin typeface="Calibri Light"/>
        <a:ea typeface="Arial"/>
        <a:cs typeface=""/>
      </a:majorFont>
      <a:minorFont>
        <a:latin typeface="Calibri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2479</Words>
  <Application>WPS Presentation</Application>
  <PresentationFormat>宽屏</PresentationFormat>
  <Paragraphs>117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Microsoft YaHei Light</vt:lpstr>
      <vt:lpstr>Wingdings</vt:lpstr>
      <vt:lpstr>Calibri Light</vt:lpstr>
      <vt:lpstr>Microsoft YaHei</vt:lpstr>
      <vt:lpstr>Arial Unicode MS</vt:lpstr>
      <vt:lpstr>Office Theme</vt:lpstr>
      <vt:lpstr>Steganografija i LSB skrivanje poruka u slikama</vt:lpstr>
      <vt:lpstr>Šta je steganografija?</vt:lpstr>
      <vt:lpstr>Gde se koristi steganografija?</vt:lpstr>
      <vt:lpstr>Osnovna ideja steganografije</vt:lpstr>
      <vt:lpstr>Šta je LSB  (Least Significant Bit)?</vt:lpstr>
      <vt:lpstr>Kako se poruka pretvara u bitove?</vt:lpstr>
      <vt:lpstr>PowerPoint 演示文稿</vt:lpstr>
      <vt:lpstr>Zašto prelazimo na JPEG? (Prostorni vs. Transformacioni domen)</vt:lpstr>
      <vt:lpstr>Kako JPEG priprema teren? (DCT i Kvantizacija)</vt:lpstr>
      <vt:lpstr>JSteg</vt:lpstr>
      <vt:lpstr>OutGuess (v0.1)</vt:lpstr>
      <vt:lpstr>OutGuess 0.2 i F5</vt:lpstr>
      <vt:lpstr>Thanks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annjo</dc:creator>
  <cp:lastModifiedBy>WPS_1615542422</cp:lastModifiedBy>
  <cp:revision>45</cp:revision>
  <dcterms:created xsi:type="dcterms:W3CDTF">2015-10-06T12:45:00Z</dcterms:created>
  <dcterms:modified xsi:type="dcterms:W3CDTF">2026-06-02T00:11:49Z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FAD2965807B544919304BE421025901C_13</vt:lpwstr>
  </property>
</Properties>
</file>